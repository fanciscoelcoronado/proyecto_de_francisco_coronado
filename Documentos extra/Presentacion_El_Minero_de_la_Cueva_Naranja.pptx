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b6c165b-ef6b-27bf-21cf-70301ea946c2}">
          <p14:sldIdLst>
            <p14:sldId id="256"/>
            <p14:sldId id="257"/>
            <p14:sldId id="258"/>
          </p14:sldIdLst>
        </p14:section>
        <p14:section name="Diseño y desarrollo" id="{fc462f1b-bd8e-0125-1c88-c5a177d060cd}">
          <p14:sldIdLst>
            <p14:sldId id="259"/>
            <p14:sldId id="260"/>
            <p14:sldId id="261"/>
            <p14:sldId id="262"/>
          </p14:sldIdLst>
        </p14:section>
        <p14:section name="Resultado" id="{977f6b3e-730b-7cd2-9a25-416dd92f6dcb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Mi proyecto se llama «El Minero de la Cueva Naranja». Es un cuento web interactivo hecho con HTML, CSS y JavaScript básico. Voy a explicar la idea, cómo lo planifiqué con el boceto, cómo lo desarrollé, el diseño, el JavaScript y el resultado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historia trata de Rocco, un joven minero de la aldea Piedra Hueca. Una noche las lámparas de cristal se apagan. Rocco y su murciélago Nox bajan a la mina a buscar el Corazón Naranja, pero el Guardián de Lava solo deja pasar a quien elige el túnel correcto. Al lograrlo, la luz regresa.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personajes principales. Rocco es el protagonista. Nox es su guía y compañero. El Guardián de Lava es el obstáculo: protege el Corazón Naranja y pone a prueba a Rocco. En la página aparecen como tres tarjetas con su retrato.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historia está organizada en seis secciones, más que el mínimo de cinco. Tiene inicio, desarrollo, momento principal y final. Se recorre con el menú, con los botones Continuar y con la paginación flotante.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etapa 1 hice el boceto con la distribución. En la página final mantuve las seis secciones en el mismo orden, el menú, el botón de comenzar, los colores y las tipografías. Agregué una paginación flotante para recorrer las secciones, y en móvil la navegación se hace con los botones Continuar y esa paginación.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estilo es oscuro, como el interior de una mina, con naranja como color principal. Definí los colores como variables CSS. Uso Bebas Neue para títulos, Rubik para los textos y Permanent Marker para detalles. Para la distribución uso Flexbox y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Usé la estructura básica de HTML: doctype, lang es, meta viewport, header con el menú, main con las seis secciones y footer. Hay títulos, párrafos, ocho imágenes con alt, una lista en el capítulo 2 y dos enlaces en el pie: la documentación de la etapa 1 y el repositorio de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interacción principal está en el capítulo 3: el lector elige entre el túnel izquierdo y el derecho, y aparece un mensaje con la pista. Además agregué una paginación flotante que muestra la sección actual y permite avanzar con flechas o con el teclado. Ese script lo tomé de un documento de estudio de la profesora y lo adapté a mi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Probé la página en una pantalla de computadora y en una de celular. Con un @media de 768 píxeles, las tarjetas de personajes pasan a una columna y la portada se apila. No aparece scroll horizontal.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está organizado en carpetas: CSS, JS, IMG y Documentos extra, con el HTML en la raíz. Usé Git y GitHub con tres ramas. Las ilustraciones las generé con inteligencia artificial para este proyecto educativo y lo indico en los créditos.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terminar: la historia llega a su final con la luz regresando a la aldea. Entrego la carpeta completa con HTML, CSS, JavaScript e imágenes, y una página que funciona en computadora y celular.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SO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El Minero de la Cueva Naranja · Etapa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nciscoElCORONADO/Proyecto_de_Francisco_Coronado" TargetMode="External"/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4"/>
                </a:solidFill>
              </a:rPr>
              <a:t>I PROYECTO TI · II SEMESTRE · PROGRAMACIÓN WEB 10°</a:t>
            </a:r>
            <a:endParaRPr lang="en-US" sz="14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14630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Minero de la Cueva Naranja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Etapa 2 · Desarrollo del cuento web interactivo</a:t>
            </a:r>
            <a:endParaRPr lang="en-US" sz="2000" dirty="0"/>
          </a:p>
        </p:txBody>
      </p:sp>
      <p:sp>
        <p:nvSpPr>
          <p:cNvPr id="5" name="Datos del estudiante"/>
          <p:cNvSpPr txBox="1"/>
          <p:nvPr/>
        </p:nvSpPr>
        <p:spPr>
          <a:xfrm>
            <a:off x="640080" y="4572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Francisco Javier Coronado Contreras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Sección 10° · Programación Web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Profesora: Alejandra Rodríguez Berrocal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Entrega: 4 de noviembre de 2026</a:t>
            </a:r>
            <a:endParaRPr lang="en-US" sz="1600" dirty="0"/>
          </a:p>
        </p:txBody>
      </p:sp>
      <p:sp>
        <p:nvSpPr>
          <p:cNvPr id="6" name="Imagen portada marco"/>
          <p:cNvSpPr/>
          <p:nvPr/>
        </p:nvSpPr>
        <p:spPr>
          <a:xfrm>
            <a:off x="6803136" y="1316736"/>
            <a:ext cx="4864608" cy="33009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n portada" descr="Rocco, el minero, frente a la entrada de la m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4754880" cy="31912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Un cuento web con HTML, CSS y 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La idea de la historia</a:t>
            </a:r>
            <a:endParaRPr lang="en-US" sz="3400" dirty="0"/>
          </a:p>
        </p:txBody>
      </p:sp>
      <p:sp>
        <p:nvSpPr>
          <p:cNvPr id="3" name="Etiqueta GÉNERO"/>
          <p:cNvSpPr txBox="1"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GÉNERO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Aventura con toques de fantasía.</a:t>
            </a:r>
            <a:endParaRPr lang="en-US" sz="1600" dirty="0"/>
          </a:p>
        </p:txBody>
      </p:sp>
      <p:sp>
        <p:nvSpPr>
          <p:cNvPr id="5" name="Etiqueta AMBIENTE"/>
          <p:cNvSpPr txBox="1"/>
          <p:nvPr/>
        </p:nvSpPr>
        <p:spPr>
          <a:xfrm>
            <a:off x="5486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AMBIENTE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aldea Piedra Hueca y la mina profunda que hay debajo: túneles oscuros, antorchas, cristales naranja y lava.</a:t>
            </a:r>
            <a:endParaRPr lang="en-US" sz="1600" dirty="0"/>
          </a:p>
        </p:txBody>
      </p:sp>
      <p:sp>
        <p:nvSpPr>
          <p:cNvPr id="7" name="Etiqueta PROBLEMA"/>
          <p:cNvSpPr txBox="1"/>
          <p:nvPr/>
        </p:nvSpPr>
        <p:spPr>
          <a:xfrm>
            <a:off x="5486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PROBLEMA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luces de la aldea se apagan y el Guardián de Lava bloquea el camino hacia el Corazón Naranja.</a:t>
            </a:r>
            <a:endParaRPr lang="en-US" sz="1600" dirty="0"/>
          </a:p>
        </p:txBody>
      </p:sp>
      <p:sp>
        <p:nvSpPr>
          <p:cNvPr id="9" name="Etiqueta FINAL"/>
          <p:cNvSpPr txBox="1"/>
          <p:nvPr/>
        </p:nvSpPr>
        <p:spPr>
          <a:xfrm>
            <a:off x="54864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FINAL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Rocco elige el túnel correcto, la luz regresa a la aldea y él queda como guardián de la mina.</a:t>
            </a:r>
            <a:endParaRPr lang="en-US" sz="1600" dirty="0"/>
          </a:p>
        </p:txBody>
      </p:sp>
      <p:sp>
        <p:nvSpPr>
          <p:cNvPr id="11" name="Escena capítulo 1 marco"/>
          <p:cNvSpPr/>
          <p:nvPr/>
        </p:nvSpPr>
        <p:spPr>
          <a:xfrm>
            <a:off x="6528816" y="1499616"/>
            <a:ext cx="5138928" cy="291693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Escena capítulo 1" descr="La aldea Piedra Hueca a oscu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5029200" cy="28072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583680" y="4617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Rocco, el minero, y Nox, su murciélago guía, bajan a la mina para devolver la luz a su aldea.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Personajes</a:t>
            </a:r>
            <a:endParaRPr lang="en-US" sz="3400" dirty="0"/>
          </a:p>
        </p:txBody>
      </p:sp>
      <p:sp>
        <p:nvSpPr>
          <p:cNvPr id="3" name="Tarjeta ROCCO"/>
          <p:cNvSpPr/>
          <p:nvPr/>
        </p:nvSpPr>
        <p:spPr>
          <a:xfrm>
            <a:off x="548640" y="1417320"/>
            <a:ext cx="3474720" cy="45262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Retrato ROCCO" descr="Retrato de Rocco, el min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108960" cy="2322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ROCCO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El minero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Joven minero valiente y terco. Lleva casco naranja y pico de hierro.</a:t>
            </a:r>
            <a:endParaRPr lang="en-US" sz="1600" dirty="0"/>
          </a:p>
        </p:txBody>
      </p:sp>
      <p:sp>
        <p:nvSpPr>
          <p:cNvPr id="8" name="Tarjeta NOX"/>
          <p:cNvSpPr/>
          <p:nvPr/>
        </p:nvSpPr>
        <p:spPr>
          <a:xfrm>
            <a:off x="4361688" y="1417320"/>
            <a:ext cx="3474720" cy="45262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" name="Retrato NOX" descr="Retrato de Nox, el murciéla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600200"/>
            <a:ext cx="3108960" cy="23225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44568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NOX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4544568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El murciélago guía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44568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Compañero inseparable de Rocco. Pelaje gris azulado y ojos naranja brillantes.</a:t>
            </a:r>
            <a:endParaRPr lang="en-US" sz="1600" dirty="0"/>
          </a:p>
        </p:txBody>
      </p:sp>
      <p:sp>
        <p:nvSpPr>
          <p:cNvPr id="13" name="Tarjeta GUARDIÁN DE LAVA"/>
          <p:cNvSpPr/>
          <p:nvPr/>
        </p:nvSpPr>
        <p:spPr>
          <a:xfrm>
            <a:off x="8174736" y="1417320"/>
            <a:ext cx="3474720" cy="45262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4" name="Retrato GUARDIÁN DE LAVA" descr="Retrato del Guardián de La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600200"/>
            <a:ext cx="3108960" cy="23225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7616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GUARDIÁN DE LAVA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357616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Protector del Corazón Naranja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Gigante de roca volcánica con grietas de lava. Pone a prueba a Rocco.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Estructura: 6 secciones</a:t>
            </a:r>
            <a:endParaRPr lang="en-US" sz="3400" dirty="0"/>
          </a:p>
        </p:txBody>
      </p:sp>
      <p:sp>
        <p:nvSpPr>
          <p:cNvPr id="3" name="Sección 1"/>
          <p:cNvSpPr/>
          <p:nvPr/>
        </p:nvSpPr>
        <p:spPr>
          <a:xfrm>
            <a:off x="54864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Círculo 1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Portada con el título y el botón «Comenzar aventura».</a:t>
            </a:r>
            <a:endParaRPr lang="en-US" sz="1400" dirty="0"/>
          </a:p>
        </p:txBody>
      </p:sp>
      <p:sp>
        <p:nvSpPr>
          <p:cNvPr id="8" name="Sección 2"/>
          <p:cNvSpPr/>
          <p:nvPr/>
        </p:nvSpPr>
        <p:spPr>
          <a:xfrm>
            <a:off x="242316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Círculo 2"/>
          <p:cNvSpPr/>
          <p:nvPr/>
        </p:nvSpPr>
        <p:spPr>
          <a:xfrm>
            <a:off x="256032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Personajes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Tres tarjetas: Rocco, Nox y el Guardián.</a:t>
            </a:r>
            <a:endParaRPr lang="en-US" sz="1400" dirty="0"/>
          </a:p>
        </p:txBody>
      </p:sp>
      <p:sp>
        <p:nvSpPr>
          <p:cNvPr id="13" name="Sección 3"/>
          <p:cNvSpPr/>
          <p:nvPr/>
        </p:nvSpPr>
        <p:spPr>
          <a:xfrm>
            <a:off x="429768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Círculo 3"/>
          <p:cNvSpPr/>
          <p:nvPr/>
        </p:nvSpPr>
        <p:spPr>
          <a:xfrm>
            <a:off x="443484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luz que se apaga. Inicio de la historia.</a:t>
            </a:r>
            <a:endParaRPr lang="en-US" sz="1400" dirty="0"/>
          </a:p>
        </p:txBody>
      </p:sp>
      <p:sp>
        <p:nvSpPr>
          <p:cNvPr id="18" name="Sección 4"/>
          <p:cNvSpPr/>
          <p:nvPr/>
        </p:nvSpPr>
        <p:spPr>
          <a:xfrm>
            <a:off x="617220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Círculo 4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descenso. Desarrollo, con la lista del equipo.</a:t>
            </a:r>
            <a:endParaRPr lang="en-US" sz="1400" dirty="0"/>
          </a:p>
        </p:txBody>
      </p:sp>
      <p:sp>
        <p:nvSpPr>
          <p:cNvPr id="23" name="Sección 5"/>
          <p:cNvSpPr/>
          <p:nvPr/>
        </p:nvSpPr>
        <p:spPr>
          <a:xfrm>
            <a:off x="804672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Círculo 5"/>
          <p:cNvSpPr/>
          <p:nvPr/>
        </p:nvSpPr>
        <p:spPr>
          <a:xfrm>
            <a:off x="818388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3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Guardián de Lava. Momento principal e interacción.</a:t>
            </a:r>
            <a:endParaRPr lang="en-US" sz="1400" dirty="0"/>
          </a:p>
        </p:txBody>
      </p:sp>
      <p:sp>
        <p:nvSpPr>
          <p:cNvPr id="28" name="Sección 6"/>
          <p:cNvSpPr/>
          <p:nvPr/>
        </p:nvSpPr>
        <p:spPr>
          <a:xfrm>
            <a:off x="9921240" y="1554480"/>
            <a:ext cx="1691640" cy="2926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Círculo 6"/>
          <p:cNvSpPr/>
          <p:nvPr/>
        </p:nvSpPr>
        <p:spPr>
          <a:xfrm>
            <a:off x="1005840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88036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¡La luz regresó! Créditos y enlaces.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Inicio  →  Desarrollo  →  Momento principal  →  Final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Cada sección se conecta con la siguiente mediante botones «Continuar →».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Del boceto a la página</a:t>
            </a:r>
            <a:endParaRPr lang="en-US" sz="3400" dirty="0"/>
          </a:p>
        </p:txBody>
      </p:sp>
      <p:pic>
        <p:nvPicPr>
          <p:cNvPr id="3" name="Boceto etapa 1" descr="Boceto de la página en versión computadora (Etapa 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931920" cy="43159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60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Boceto (Etapa 1)</a:t>
            </a:r>
            <a:endParaRPr lang="en-US" sz="1400" dirty="0"/>
          </a:p>
        </p:txBody>
      </p:sp>
      <p:sp>
        <p:nvSpPr>
          <p:cNvPr id="5" name="Captura página final marco"/>
          <p:cNvSpPr/>
          <p:nvPr/>
        </p:nvSpPr>
        <p:spPr>
          <a:xfrm>
            <a:off x="4791456" y="1371600"/>
            <a:ext cx="5870448" cy="33467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ptura página final" descr="Captura de la página final en computado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6464"/>
            <a:ext cx="5760720" cy="32369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46320" y="4754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Página final (computadora)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MANTUVO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5532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secciones en el mismo orden, menú de 5 enlaces, botón «Comenzar aventura», paleta y tipografías.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CAMBIÓ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5532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agregó paginación flotante (← 1 / 6 →). En móvil se navega con botones y paginación.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Diseño con CSS</a:t>
            </a:r>
            <a:endParaRPr lang="en-US" sz="3400" dirty="0"/>
          </a:p>
        </p:txBody>
      </p:sp>
      <p:sp>
        <p:nvSpPr>
          <p:cNvPr id="3" name="Etiqueta PALETA DE COLORES"/>
          <p:cNvSpPr txBox="1"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PALETA DE COLORES</a:t>
            </a:r>
            <a:endParaRPr lang="en-US" sz="1400" dirty="0"/>
          </a:p>
        </p:txBody>
      </p:sp>
      <p:sp>
        <p:nvSpPr>
          <p:cNvPr id="4" name="Color Naranja fuego"/>
          <p:cNvSpPr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solidFill>
            <a:srgbClr val="E8731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Naranja fuego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#E8731A</a:t>
            </a:r>
            <a:endParaRPr lang="en-US" sz="1200" dirty="0"/>
          </a:p>
        </p:txBody>
      </p:sp>
      <p:sp>
        <p:nvSpPr>
          <p:cNvPr id="7" name="Color Naranja quemado"/>
          <p:cNvSpPr/>
          <p:nvPr/>
        </p:nvSpPr>
        <p:spPr>
          <a:xfrm>
            <a:off x="3383280" y="1828800"/>
            <a:ext cx="2651760" cy="731520"/>
          </a:xfrm>
          <a:prstGeom prst="rect">
            <a:avLst/>
          </a:prstGeom>
          <a:solidFill>
            <a:srgbClr val="B5470E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Naranja quemado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#B5470E</a:t>
            </a:r>
            <a:endParaRPr lang="en-US" sz="1200" dirty="0"/>
          </a:p>
        </p:txBody>
      </p:sp>
      <p:sp>
        <p:nvSpPr>
          <p:cNvPr id="10" name="Color Carbón"/>
          <p:cNvSpPr/>
          <p:nvPr/>
        </p:nvSpPr>
        <p:spPr>
          <a:xfrm>
            <a:off x="548640" y="3200400"/>
            <a:ext cx="2651760" cy="731520"/>
          </a:xfrm>
          <a:prstGeom prst="rect">
            <a:avLst/>
          </a:prstGeom>
          <a:solidFill>
            <a:srgbClr val="1E1E2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Carbón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4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#1E1E22</a:t>
            </a:r>
            <a:endParaRPr lang="en-US" sz="1200" dirty="0"/>
          </a:p>
        </p:txBody>
      </p:sp>
      <p:sp>
        <p:nvSpPr>
          <p:cNvPr id="13" name="Color Gris piedra"/>
          <p:cNvSpPr/>
          <p:nvPr/>
        </p:nvSpPr>
        <p:spPr>
          <a:xfrm>
            <a:off x="3383280" y="3200400"/>
            <a:ext cx="2651760" cy="731520"/>
          </a:xfrm>
          <a:prstGeom prst="rect">
            <a:avLst/>
          </a:prstGeom>
          <a:solidFill>
            <a:srgbClr val="3B3B4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Gris piedra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224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#3B3B42</a:t>
            </a:r>
            <a:endParaRPr lang="en-US" sz="1200" dirty="0"/>
          </a:p>
        </p:txBody>
      </p:sp>
      <p:sp>
        <p:nvSpPr>
          <p:cNvPr id="16" name="Color Gris ceniza"/>
          <p:cNvSpPr/>
          <p:nvPr/>
        </p:nvSpPr>
        <p:spPr>
          <a:xfrm>
            <a:off x="548640" y="4572000"/>
            <a:ext cx="2651760" cy="731520"/>
          </a:xfrm>
          <a:prstGeom prst="rect">
            <a:avLst/>
          </a:prstGeom>
          <a:solidFill>
            <a:srgbClr val="8A8A9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Gris ceniza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96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#8A8A90</a:t>
            </a:r>
            <a:endParaRPr lang="en-US" sz="1200" dirty="0"/>
          </a:p>
        </p:txBody>
      </p:sp>
      <p:sp>
        <p:nvSpPr>
          <p:cNvPr id="19" name="Color Beige polvo"/>
          <p:cNvSpPr/>
          <p:nvPr/>
        </p:nvSpPr>
        <p:spPr>
          <a:xfrm>
            <a:off x="3383280" y="4572000"/>
            <a:ext cx="2651760" cy="731520"/>
          </a:xfrm>
          <a:prstGeom prst="rect">
            <a:avLst/>
          </a:prstGeom>
          <a:solidFill>
            <a:srgbClr val="D8CDBE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Beige polvo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5596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#D8CDBE</a:t>
            </a:r>
            <a:endParaRPr lang="en-US" sz="1200" dirty="0"/>
          </a:p>
        </p:txBody>
      </p:sp>
      <p:sp>
        <p:nvSpPr>
          <p:cNvPr id="22" name="Etiqueta TIPOGRAFÍAS"/>
          <p:cNvSpPr txBox="1"/>
          <p:nvPr/>
        </p:nvSpPr>
        <p:spPr>
          <a:xfrm>
            <a:off x="6400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TIPOGRAFÍAS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Bebas Neue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·  Títulos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Rubik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·  Textos y párrafos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Permanent Marker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·  Detalles y etiquetas</a:t>
            </a:r>
            <a:endParaRPr lang="en-US" sz="1800" dirty="0"/>
          </a:p>
        </p:txBody>
      </p:sp>
      <p:sp>
        <p:nvSpPr>
          <p:cNvPr id="26" name="Etiqueta TÉCNICAS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TÉCNICAS</a:t>
            </a:r>
            <a:endParaRPr lang="en-US" sz="1400" dirty="0"/>
          </a:p>
        </p:txBody>
      </p:sp>
      <p:sp>
        <p:nvSpPr>
          <p:cNvPr id="27" name="Técnicas CSS"/>
          <p:cNvSpPr txBox="1"/>
          <p:nvPr/>
        </p:nvSpPr>
        <p:spPr>
          <a:xfrm>
            <a:off x="6400800" y="44348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Variables CSS en :root para los colores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Flexbox en la portada y el menú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Grid de 3 columnas en los personajes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Scroll suave y @media para móvil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Estructura HTML</a:t>
            </a:r>
            <a:endParaRPr lang="en-US" sz="3400" dirty="0"/>
          </a:p>
        </p:txBody>
      </p:sp>
      <p:sp>
        <p:nvSpPr>
          <p:cNvPr id="3" name="Etiqueta ETIQUETAS USADAS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ETIQUETAS USADAS</a:t>
            </a:r>
            <a:endParaRPr lang="en-US" sz="1400" dirty="0"/>
          </a:p>
        </p:txBody>
      </p:sp>
      <p:sp>
        <p:nvSpPr>
          <p:cNvPr id="4" name="Etiqueta &lt;header&gt;"/>
          <p:cNvSpPr/>
          <p:nvPr/>
        </p:nvSpPr>
        <p:spPr>
          <a:xfrm>
            <a:off x="548640" y="187452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6" name="Etiqueta &lt;nav&gt;"/>
          <p:cNvSpPr/>
          <p:nvPr/>
        </p:nvSpPr>
        <p:spPr>
          <a:xfrm>
            <a:off x="2697480" y="187452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</p:txBody>
      </p:sp>
      <p:sp>
        <p:nvSpPr>
          <p:cNvPr id="8" name="Etiqueta &lt;main&gt;"/>
          <p:cNvSpPr/>
          <p:nvPr/>
        </p:nvSpPr>
        <p:spPr>
          <a:xfrm>
            <a:off x="4846320" y="187452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74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400" dirty="0"/>
          </a:p>
        </p:txBody>
      </p:sp>
      <p:sp>
        <p:nvSpPr>
          <p:cNvPr id="10" name="Etiqueta &lt;section&gt; ×6"/>
          <p:cNvSpPr/>
          <p:nvPr/>
        </p:nvSpPr>
        <p:spPr>
          <a:xfrm>
            <a:off x="548640" y="269748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×6</a:t>
            </a:r>
            <a:endParaRPr lang="en-US" sz="1400" dirty="0"/>
          </a:p>
        </p:txBody>
      </p:sp>
      <p:sp>
        <p:nvSpPr>
          <p:cNvPr id="12" name="Etiqueta &lt;article&gt; ×3"/>
          <p:cNvSpPr/>
          <p:nvPr/>
        </p:nvSpPr>
        <p:spPr>
          <a:xfrm>
            <a:off x="2697480" y="269748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 ×3</a:t>
            </a:r>
            <a:endParaRPr lang="en-US" sz="1400" dirty="0"/>
          </a:p>
        </p:txBody>
      </p:sp>
      <p:sp>
        <p:nvSpPr>
          <p:cNvPr id="14" name="Etiqueta &lt;footer&gt;"/>
          <p:cNvSpPr/>
          <p:nvPr/>
        </p:nvSpPr>
        <p:spPr>
          <a:xfrm>
            <a:off x="4846320" y="269748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16" name="Etiqueta &lt;h1&gt; &lt;h2&gt; &lt;h3&gt;"/>
          <p:cNvSpPr/>
          <p:nvPr/>
        </p:nvSpPr>
        <p:spPr>
          <a:xfrm>
            <a:off x="548640" y="352044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1400" dirty="0"/>
          </a:p>
        </p:txBody>
      </p:sp>
      <p:sp>
        <p:nvSpPr>
          <p:cNvPr id="18" name="Etiqueta &lt;p&gt;"/>
          <p:cNvSpPr/>
          <p:nvPr/>
        </p:nvSpPr>
        <p:spPr>
          <a:xfrm>
            <a:off x="2697480" y="352044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20" name="Etiqueta &lt;img alt&gt;"/>
          <p:cNvSpPr/>
          <p:nvPr/>
        </p:nvSpPr>
        <p:spPr>
          <a:xfrm>
            <a:off x="4846320" y="352044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alt&gt;</a:t>
            </a:r>
            <a:endParaRPr lang="en-US" sz="1400" dirty="0"/>
          </a:p>
        </p:txBody>
      </p:sp>
      <p:sp>
        <p:nvSpPr>
          <p:cNvPr id="22" name="Etiqueta &lt;ul&gt; &lt;li&gt;"/>
          <p:cNvSpPr/>
          <p:nvPr/>
        </p:nvSpPr>
        <p:spPr>
          <a:xfrm>
            <a:off x="548640" y="434340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&lt;li&gt;</a:t>
            </a:r>
            <a:endParaRPr lang="en-US" sz="1400" dirty="0"/>
          </a:p>
        </p:txBody>
      </p:sp>
      <p:sp>
        <p:nvSpPr>
          <p:cNvPr id="24" name="Etiqueta &lt;a&gt;"/>
          <p:cNvSpPr/>
          <p:nvPr/>
        </p:nvSpPr>
        <p:spPr>
          <a:xfrm>
            <a:off x="2697480" y="434340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97480" y="4343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400" dirty="0"/>
          </a:p>
        </p:txBody>
      </p:sp>
      <p:sp>
        <p:nvSpPr>
          <p:cNvPr id="26" name="Etiqueta &lt;button&gt;"/>
          <p:cNvSpPr/>
          <p:nvPr/>
        </p:nvSpPr>
        <p:spPr>
          <a:xfrm>
            <a:off x="4846320" y="434340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4343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400" dirty="0"/>
          </a:p>
        </p:txBody>
      </p:sp>
      <p:sp>
        <p:nvSpPr>
          <p:cNvPr id="28" name="Etiqueta &lt;script&gt;"/>
          <p:cNvSpPr/>
          <p:nvPr/>
        </p:nvSpPr>
        <p:spPr>
          <a:xfrm>
            <a:off x="548640" y="516636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166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1554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secciones con id para el menú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imágenes con texto alternativo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4663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+ 2</a:t>
            </a:r>
            <a:endParaRPr lang="en-US" sz="54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lista y dos enlaces externos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JavaScript: dos interacciones</a:t>
            </a:r>
            <a:endParaRPr lang="en-US" sz="3400" dirty="0"/>
          </a:p>
        </p:txBody>
      </p:sp>
      <p:sp>
        <p:nvSpPr>
          <p:cNvPr id="3" name="Etiqueta 1. ELEGIR UN TÚNEL (CAPÍTULO 3)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1. ELEGIR UN TÚNEL (CAPÍTULO 3)</a:t>
            </a:r>
            <a:endParaRPr lang="en-US" sz="1400" dirty="0"/>
          </a:p>
        </p:txBody>
      </p:sp>
      <p:sp>
        <p:nvSpPr>
          <p:cNvPr id="4" name="Código túneles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Código"/>
          <p:cNvSpPr txBox="1"/>
          <p:nvPr/>
        </p:nvSpPr>
        <p:spPr>
          <a:xfrm>
            <a:off x="731520" y="19202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Mensaje1(){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alert("¡Cuidado Rocco! ...");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Mensaje2(){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alert("¡Excelente elección! ...");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botón llama a una función con onclick. El túnel izquierdo advierte de un derrumbe; el derecho guía a Rocco hacia el Guardián.</a:t>
            </a:r>
            <a:endParaRPr lang="en-US" sz="1600" dirty="0"/>
          </a:p>
        </p:txBody>
      </p:sp>
      <p:sp>
        <p:nvSpPr>
          <p:cNvPr id="7" name="Etiqueta 2. PAGINACIÓN FLOTANTE"/>
          <p:cNvSpPr txBox="1"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2. PAGINACIÓN FLOTANTE</a:t>
            </a:r>
            <a:endParaRPr lang="en-US" sz="1400" dirty="0"/>
          </a:p>
        </p:txBody>
      </p:sp>
      <p:sp>
        <p:nvSpPr>
          <p:cNvPr id="8" name="Paginación"/>
          <p:cNvSpPr txBox="1"/>
          <p:nvPr/>
        </p:nvSpPr>
        <p:spPr>
          <a:xfrm>
            <a:off x="6583680" y="18288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Muestra en qué sección vas (1 / 6) al hacer scroll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flechas ← → llevan a la sección anterior o siguiente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También funciona con el teclado: ← → y Re Pág / Av Pág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Usa addEventListener y scrollIntoView</a:t>
            </a:r>
            <a:endParaRPr lang="en-US" sz="1600" dirty="0"/>
          </a:p>
        </p:txBody>
      </p:sp>
      <p:sp>
        <p:nvSpPr>
          <p:cNvPr id="9" name="Nota fuente"/>
          <p:cNvSpPr/>
          <p:nvPr/>
        </p:nvSpPr>
        <p:spPr>
          <a:xfrm>
            <a:off x="6583680" y="4206240"/>
            <a:ext cx="5029200" cy="128016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La barra de paginación está basada en un script del documento de estudio de la profesora 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Adaptable a computadora y móvil</a:t>
            </a:r>
            <a:endParaRPr lang="en-US" sz="3400" dirty="0"/>
          </a:p>
        </p:txBody>
      </p:sp>
      <p:sp>
        <p:nvSpPr>
          <p:cNvPr id="3" name="Captura capítulo 3 computadora marco"/>
          <p:cNvSpPr/>
          <p:nvPr/>
        </p:nvSpPr>
        <p:spPr>
          <a:xfrm>
            <a:off x="493776" y="1408176"/>
            <a:ext cx="7059168" cy="4023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aptura capítulo 3 computadora" descr="Capítulo 3 en computad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913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86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Computadora (1366 px)</a:t>
            </a:r>
            <a:endParaRPr lang="en-US" sz="1400" dirty="0"/>
          </a:p>
        </p:txBody>
      </p:sp>
      <p:sp>
        <p:nvSpPr>
          <p:cNvPr id="6" name="Captura capítulo 3 móvil marco"/>
          <p:cNvSpPr/>
          <p:nvPr/>
        </p:nvSpPr>
        <p:spPr>
          <a:xfrm>
            <a:off x="8449056" y="1316736"/>
            <a:ext cx="2212848" cy="4663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Captura capítulo 3 móvil" descr="Capítulo 3 en móv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2103120" cy="45537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03920" y="6035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Móvil (390 px)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06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pantallas de 768 px o menos, las tarjetas pasan a una columna, la portada se apila y los textos se reajustan. No hay scroll horizontal.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Organización de archivos</a:t>
            </a:r>
            <a:endParaRPr lang="en-US" sz="3400" dirty="0"/>
          </a:p>
        </p:txBody>
      </p:sp>
      <p:sp>
        <p:nvSpPr>
          <p:cNvPr id="3" name="Árbol de carpetas"/>
          <p:cNvSpPr/>
          <p:nvPr/>
        </p:nvSpPr>
        <p:spPr>
          <a:xfrm>
            <a:off x="548640" y="1463040"/>
            <a:ext cx="5852160" cy="33832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Árbol"/>
          <p:cNvSpPr txBox="1"/>
          <p:nvPr/>
        </p:nvSpPr>
        <p:spPr>
          <a:xfrm>
            <a:off x="777240" y="164592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Proyecto_de_Francisco_Coronado/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CSS/Style.css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JS/script.js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IMG/  (8 imágenes)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Documentos extra/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1 Etapa de proyecto.pdf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proyecto se versionó con Git y GitHub, con las ramas main, css y js.</a:t>
            </a:r>
            <a:endParaRPr lang="en-US" sz="1600" dirty="0"/>
          </a:p>
        </p:txBody>
      </p:sp>
      <p:sp>
        <p:nvSpPr>
          <p:cNvPr id="6" name="Imagen escena_capitulo2.jpg marco"/>
          <p:cNvSpPr/>
          <p:nvPr/>
        </p:nvSpPr>
        <p:spPr>
          <a:xfrm>
            <a:off x="6894576" y="1453896"/>
            <a:ext cx="2487168" cy="1709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n escena_capitulo2.jpg" descr="Descenso por los túne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508760"/>
            <a:ext cx="2377440" cy="1600200"/>
          </a:xfrm>
          <a:prstGeom prst="rect">
            <a:avLst/>
          </a:prstGeom>
        </p:spPr>
      </p:pic>
      <p:sp>
        <p:nvSpPr>
          <p:cNvPr id="8" name="Imagen escena_guardian.jpg marco"/>
          <p:cNvSpPr/>
          <p:nvPr/>
        </p:nvSpPr>
        <p:spPr>
          <a:xfrm>
            <a:off x="9454896" y="1453896"/>
            <a:ext cx="2487168" cy="1709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n escena_guardian.jpg" descr="El Guardián de La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508760"/>
            <a:ext cx="2377440" cy="1600200"/>
          </a:xfrm>
          <a:prstGeom prst="rect">
            <a:avLst/>
          </a:prstGeom>
        </p:spPr>
      </p:pic>
      <p:sp>
        <p:nvSpPr>
          <p:cNvPr id="10" name="Imagen escena_final.jpg marco"/>
          <p:cNvSpPr/>
          <p:nvPr/>
        </p:nvSpPr>
        <p:spPr>
          <a:xfrm>
            <a:off x="6894576" y="3282696"/>
            <a:ext cx="2487168" cy="1709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n escena_final.jpg" descr="La luz regresa a la alde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337560"/>
            <a:ext cx="2377440" cy="1600200"/>
          </a:xfrm>
          <a:prstGeom prst="rect">
            <a:avLst/>
          </a:prstGeom>
        </p:spPr>
      </p:pic>
      <p:sp>
        <p:nvSpPr>
          <p:cNvPr id="12" name="Imagen nox_retrato.jpg marco"/>
          <p:cNvSpPr/>
          <p:nvPr/>
        </p:nvSpPr>
        <p:spPr>
          <a:xfrm>
            <a:off x="9454896" y="3282696"/>
            <a:ext cx="2487168" cy="1709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n nox_retrato.jpg" descr="Nox, el murciéla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337560"/>
            <a:ext cx="2377440" cy="1600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4944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Imágenes generadas con IA (Gemini) para este proyecto, con fines educativos.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Resultado final</a:t>
            </a:r>
            <a:endParaRPr lang="en-US" sz="3400" dirty="0"/>
          </a:p>
        </p:txBody>
      </p:sp>
      <p:sp>
        <p:nvSpPr>
          <p:cNvPr id="3" name="Escena final marco"/>
          <p:cNvSpPr/>
          <p:nvPr/>
        </p:nvSpPr>
        <p:spPr>
          <a:xfrm>
            <a:off x="493776" y="1408176"/>
            <a:ext cx="6327648" cy="360273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Escena final" descr="El Corazón Naranja brilla y la luz vuelve a la ald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217920" cy="3493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20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«¡La luz regresó!»</a:t>
            </a:r>
            <a:endParaRPr lang="en-US" sz="2400" dirty="0"/>
          </a:p>
        </p:txBody>
      </p:sp>
      <p:sp>
        <p:nvSpPr>
          <p:cNvPr id="6" name="Etiqueta LO QUE ENTREGO"/>
          <p:cNvSpPr txBox="1"/>
          <p:nvPr/>
        </p:nvSpPr>
        <p:spPr>
          <a:xfrm>
            <a:off x="731520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LO QUE ENTREGO</a:t>
            </a:r>
            <a:endParaRPr lang="en-US" sz="1400" dirty="0"/>
          </a:p>
        </p:txBody>
      </p:sp>
      <p:sp>
        <p:nvSpPr>
          <p:cNvPr id="7" name="Entregables"/>
          <p:cNvSpPr txBox="1"/>
          <p:nvPr/>
        </p:nvSpPr>
        <p:spPr>
          <a:xfrm>
            <a:off x="7315200" y="18745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Página web funcional con 6 secciones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HTML, CSS y JavaScript en archivos separados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Imágenes y recursos en su carpeta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Diseño adaptable a computadora y móvil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Interacción: elegir un túnel</a:t>
            </a:r>
            <a:endParaRPr lang="en-US" sz="1600" dirty="0"/>
          </a:p>
        </p:txBody>
      </p:sp>
      <p:sp>
        <p:nvSpPr>
          <p:cNvPr id="8" name="Cierre"/>
          <p:cNvSpPr/>
          <p:nvPr/>
        </p:nvSpPr>
        <p:spPr>
          <a:xfrm>
            <a:off x="7315200" y="4754880"/>
            <a:ext cx="4297680" cy="128016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4828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5349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chemeClr val="accent3"/>
                </a:solidFill>
                <a:hlinkClick r:id="rId2" invalidUrl="" action="" tgtFrame="" tooltip="Repositorio del proyec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github.com/FanciscoElCORONADO/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accent3"/>
                </a:solidFill>
                <a:hlinkClick r:id="rId2" invalidUrl="" action="" tgtFrame="" tooltip="Repositorio del proyect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Proyecto_de_Francisco_Coronado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eva Naranja">
  <a:themeElements>
    <a:clrScheme name="Cueva Naranja">
      <a:dk1>
        <a:srgbClr val="EFE6D8"/>
      </a:dk1>
      <a:lt1>
        <a:srgbClr val="1E1E22"/>
      </a:lt1>
      <a:dk2>
        <a:srgbClr val="D8CDBE"/>
      </a:dk2>
      <a:lt2>
        <a:srgbClr val="3B3B42"/>
      </a:lt2>
      <a:accent1>
        <a:srgbClr val="E8731A"/>
      </a:accent1>
      <a:accent2>
        <a:srgbClr val="B5470E"/>
      </a:accent2>
      <a:accent3>
        <a:srgbClr val="D8CDBE"/>
      </a:accent3>
      <a:accent4>
        <a:srgbClr val="A9A9B0"/>
      </a:accent4>
      <a:accent5>
        <a:srgbClr val="7FB77E"/>
      </a:accent5>
      <a:accent6>
        <a:srgbClr val="F2B35E"/>
      </a:accent6>
      <a:hlink>
        <a:srgbClr val="E8731A"/>
      </a:hlink>
      <a:folHlink>
        <a:srgbClr val="B5470E"/>
      </a:folHlink>
    </a:clrScheme>
    <a:fontScheme name="Cueva Naranj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Minero de la Cueva Naranja – Presentación final (Etapa 2)</dc:title>
  <dc:subject>PptxGenJS Presentation</dc:subject>
  <dc:creator>Francisco Javier Coronado Contreras</dc:creator>
  <cp:lastModifiedBy>Francisco Javier Coronado Contreras</cp:lastModifiedBy>
  <cp:revision>1</cp:revision>
  <dcterms:created xsi:type="dcterms:W3CDTF">2026-10-30T04:05:07Z</dcterms:created>
  <dcterms:modified xsi:type="dcterms:W3CDTF">2026-10-30T04:05:07Z</dcterms:modified>
</cp:coreProperties>
</file>